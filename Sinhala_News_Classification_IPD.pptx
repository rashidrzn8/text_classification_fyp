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1"/>
  </p:normalViewPr>
  <p:slideViewPr>
    <p:cSldViewPr snapToGrid="0" snapToObjects="1">
      <p:cViewPr varScale="1">
        <p:scale>
          <a:sx n="124" d="100"/>
          <a:sy n="124" d="100"/>
        </p:scale>
        <p:origin x="13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48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58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3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19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546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2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7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87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793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3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90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207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9273" y="4128660"/>
            <a:ext cx="7697492" cy="1076128"/>
          </a:xfrm>
          <a:prstGeom prst="rect">
            <a:avLst/>
          </a:prstGeom>
          <a:noFill/>
        </p:spPr>
        <p:txBody>
          <a:bodyPr wrap="none" lIns="54864" tIns="41148" rIns="54864" bIns="41148" anchor="ctr">
            <a:spAutoFit/>
          </a:bodyPr>
          <a:lstStyle/>
          <a:p>
            <a:pPr algn="ctr">
              <a:lnSpc>
                <a:spcPts val="3510"/>
              </a:lnSpc>
              <a:spcAft>
                <a:spcPts val="975"/>
              </a:spcAft>
            </a:pPr>
            <a:r>
              <a:rPr lang="en-SG" sz="2400" b="1" dirty="0">
                <a:solidFill>
                  <a:schemeClr val="bg2">
                    <a:lumMod val="90000"/>
                  </a:schemeClr>
                </a:solidFill>
                <a:highlight>
                  <a:srgbClr val="000000"/>
                </a:highlight>
                <a:latin typeface="Times New Roman" panose="02020603050405020304" pitchFamily="18" charset="0"/>
              </a:rPr>
              <a:t>Entity-Guided Data Augmentation for Text Classification </a:t>
            </a:r>
          </a:p>
          <a:p>
            <a:pPr algn="ctr">
              <a:lnSpc>
                <a:spcPts val="3510"/>
              </a:lnSpc>
              <a:spcAft>
                <a:spcPts val="975"/>
              </a:spcAft>
            </a:pPr>
            <a:r>
              <a:rPr lang="en-SG" sz="2400" b="1" dirty="0">
                <a:solidFill>
                  <a:schemeClr val="bg2">
                    <a:lumMod val="90000"/>
                  </a:schemeClr>
                </a:solidFill>
                <a:highlight>
                  <a:srgbClr val="000000"/>
                </a:highlight>
                <a:latin typeface="Times New Roman" panose="02020603050405020304" pitchFamily="18" charset="0"/>
              </a:rPr>
              <a:t>in Low-Resource Languages- </a:t>
            </a:r>
            <a:r>
              <a:rPr lang="en-SG" sz="2400" b="1" dirty="0" err="1">
                <a:solidFill>
                  <a:schemeClr val="bg2">
                    <a:lumMod val="90000"/>
                  </a:schemeClr>
                </a:solidFill>
                <a:highlight>
                  <a:srgbClr val="000000"/>
                </a:highlight>
                <a:latin typeface="Times New Roman" panose="02020603050405020304" pitchFamily="18" charset="0"/>
              </a:rPr>
              <a:t>si</a:t>
            </a:r>
            <a:endParaRPr sz="2400" b="1" dirty="0">
              <a:solidFill>
                <a:schemeClr val="bg2">
                  <a:lumMod val="90000"/>
                </a:schemeClr>
              </a:solidFill>
              <a:highlight>
                <a:srgbClr val="000000"/>
              </a:highligh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14707" y="3514725"/>
            <a:ext cx="714357" cy="28575"/>
          </a:xfrm>
          <a:prstGeom prst="rect">
            <a:avLst/>
          </a:prstGeom>
          <a:solidFill>
            <a:srgbClr val="E6C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3886505" y="3744011"/>
            <a:ext cx="1370761" cy="248658"/>
          </a:xfrm>
          <a:prstGeom prst="rect">
            <a:avLst/>
          </a:prstGeom>
          <a:noFill/>
        </p:spPr>
        <p:txBody>
          <a:bodyPr wrap="none" lIns="54864" tIns="41148" rIns="54864" bIns="41148" anchor="ctr">
            <a:spAutoFit/>
          </a:bodyPr>
          <a:lstStyle/>
          <a:p>
            <a:pPr algn="ctr">
              <a:spcAft>
                <a:spcPts val="1950"/>
              </a:spcAft>
            </a:pPr>
            <a:r>
              <a:rPr sz="1076">
                <a:solidFill>
                  <a:srgbClr val="E6C677"/>
                </a:solidFill>
              </a:rPr>
              <a:t>Research Presentation</a:t>
            </a:r>
          </a:p>
        </p:txBody>
      </p:sp>
      <p:pic>
        <p:nvPicPr>
          <p:cNvPr id="1028" name="Picture 4" descr="Informatics Institute of Technology - IIT">
            <a:extLst>
              <a:ext uri="{FF2B5EF4-FFF2-40B4-BE49-F238E27FC236}">
                <a16:creationId xmlns:a16="http://schemas.microsoft.com/office/drawing/2014/main" id="{BE9E411E-5B27-D6B4-FCDA-FF6435D54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693" y="1023120"/>
            <a:ext cx="291465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9E7A1E2-8664-F0CE-95AC-CF040FE6D613}"/>
              </a:ext>
            </a:extLst>
          </p:cNvPr>
          <p:cNvSpPr txBox="1"/>
          <p:nvPr/>
        </p:nvSpPr>
        <p:spPr>
          <a:xfrm>
            <a:off x="2364739" y="2651212"/>
            <a:ext cx="4570553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1350" dirty="0">
                <a:solidFill>
                  <a:srgbClr val="000000"/>
                </a:solidFill>
                <a:latin typeface="Times New Roman" panose="02020603050405020304" pitchFamily="18" charset="0"/>
              </a:rPr>
              <a:t>INFORMATICS INSTITUTE OF TECHNOLOGY</a:t>
            </a:r>
            <a:endParaRPr lang="en-SG" sz="1350" dirty="0"/>
          </a:p>
          <a:p>
            <a:pPr algn="ctr">
              <a:spcAft>
                <a:spcPts val="600"/>
              </a:spcAft>
            </a:pPr>
            <a:r>
              <a:rPr lang="en-SG" sz="1350" dirty="0">
                <a:solidFill>
                  <a:srgbClr val="000000"/>
                </a:solidFill>
                <a:latin typeface="Times New Roman" panose="02020603050405020304" pitchFamily="18" charset="0"/>
              </a:rPr>
              <a:t>In Collaboration with</a:t>
            </a:r>
            <a:endParaRPr lang="en-SG" sz="1350" dirty="0"/>
          </a:p>
          <a:p>
            <a:pPr algn="ctr">
              <a:spcAft>
                <a:spcPts val="600"/>
              </a:spcAft>
            </a:pPr>
            <a:r>
              <a:rPr lang="en-SG" sz="1350" dirty="0">
                <a:solidFill>
                  <a:srgbClr val="000000"/>
                </a:solidFill>
                <a:latin typeface="Times New Roman" panose="02020603050405020304" pitchFamily="18" charset="0"/>
              </a:rPr>
              <a:t>UNIVERSITY OF WESTMINSTER</a:t>
            </a:r>
            <a:endParaRPr lang="en-SG" sz="1350" dirty="0"/>
          </a:p>
          <a:p>
            <a:br>
              <a:rPr lang="en-SG" sz="1350" dirty="0"/>
            </a:b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Classify Sinhala news articles using NLP techniques.</a:t>
            </a:r>
          </a:p>
          <a:p>
            <a:pPr>
              <a:defRPr sz="1400"/>
            </a:pPr>
            <a:r>
              <a:t>Leverage data augmentation for better model generalization.</a:t>
            </a:r>
          </a:p>
          <a:p>
            <a:pPr>
              <a:defRPr sz="1400"/>
            </a:pPr>
            <a:r>
              <a:t>Presentation objectives:</a:t>
            </a:r>
          </a:p>
          <a:p>
            <a:pPr>
              <a:defRPr sz="1400"/>
            </a:pPr>
            <a:r>
              <a:t>- Show progress since PPRS</a:t>
            </a:r>
          </a:p>
          <a:p>
            <a:pPr>
              <a:defRPr sz="1400"/>
            </a:pPr>
            <a:r>
              <a:t>- Demonstrate prototype and key features</a:t>
            </a:r>
          </a:p>
          <a:p>
            <a:pPr>
              <a:defRPr sz="1400"/>
            </a:pPr>
            <a:r>
              <a:t>- Discuss challenges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/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Existing classification models for Sinhala news are limited.</a:t>
            </a:r>
          </a:p>
          <a:p>
            <a:pPr>
              <a:defRPr sz="1400"/>
            </a:pPr>
            <a:r>
              <a:t>Dataset imbalance reduces performance on minority classes.</a:t>
            </a:r>
          </a:p>
          <a:p>
            <a:pPr>
              <a:defRPr sz="1400"/>
            </a:pPr>
            <a:r>
              <a:t>Accurate classification improves news organization and accessibility.</a:t>
            </a:r>
          </a:p>
          <a:p>
            <a:pPr>
              <a:defRPr sz="1400"/>
            </a:pPr>
            <a:r>
              <a:t>[Visual: Comparison chart or image showing class imbalance]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Main Aim: Classify Sinhala news articles accurately using NLP and data augmentation.</a:t>
            </a:r>
          </a:p>
          <a:p>
            <a:pPr>
              <a:defRPr sz="1400"/>
            </a:pPr>
            <a:r>
              <a:t>Objectives:</a:t>
            </a:r>
          </a:p>
          <a:p>
            <a:pPr>
              <a:defRPr sz="1400"/>
            </a:pPr>
            <a:r>
              <a:t>1. Develop a functional prototype</a:t>
            </a:r>
          </a:p>
          <a:p>
            <a:pPr>
              <a:defRPr sz="1400"/>
            </a:pPr>
            <a:r>
              <a:t>2. Implement Data Preprocessing, Augmentation, Classification, and Evaluation modules</a:t>
            </a:r>
          </a:p>
          <a:p>
            <a:pPr>
              <a:defRPr sz="1400"/>
            </a:pPr>
            <a:r>
              <a:t>3. Enhance model performance for minority classes</a:t>
            </a:r>
          </a:p>
          <a:p>
            <a:pPr>
              <a:defRPr sz="1400"/>
            </a:pPr>
            <a:r>
              <a:t>4. Visualize results through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 Scope:</a:t>
            </a:r>
          </a:p>
          <a:p>
            <a:pPr>
              <a:defRPr sz="1400"/>
            </a:pPr>
            <a:r>
              <a:t>- Preprocessing Sinhala text</a:t>
            </a:r>
          </a:p>
          <a:p>
            <a:pPr>
              <a:defRPr sz="1400"/>
            </a:pPr>
            <a:r>
              <a:t>- NER-based data augmentation</a:t>
            </a:r>
          </a:p>
          <a:p>
            <a:pPr>
              <a:defRPr sz="1400"/>
            </a:pPr>
            <a:r>
              <a:t>- Transformer-based classification model</a:t>
            </a:r>
          </a:p>
          <a:p>
            <a:pPr>
              <a:defRPr sz="1400"/>
            </a:pPr>
            <a:r>
              <a:t>- Evaluation metrics and dashboard visualization</a:t>
            </a:r>
          </a:p>
          <a:p>
            <a:pPr>
              <a:defRPr sz="1400"/>
            </a:pPr>
            <a:r>
              <a:t>Out of Scope:</a:t>
            </a:r>
          </a:p>
          <a:p>
            <a:pPr>
              <a:defRPr sz="1400"/>
            </a:pPr>
            <a:r>
              <a:t>- Real-time news ingestion</a:t>
            </a:r>
          </a:p>
          <a:p>
            <a:pPr>
              <a:defRPr sz="1400"/>
            </a:pPr>
            <a:r>
              <a:t>- Multilingual extensions (currently Sinhala only)</a:t>
            </a:r>
          </a:p>
          <a:p>
            <a:pPr>
              <a:defRPr sz="1400"/>
            </a:pPr>
            <a:r>
              <a:t>- Large-scale production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Since PPRS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Requirement analysis completed</a:t>
            </a:r>
          </a:p>
          <a:p>
            <a:pPr>
              <a:defRPr sz="1400"/>
            </a:pPr>
            <a:r>
              <a:t>Dataset preprocessed and cleaned</a:t>
            </a:r>
          </a:p>
          <a:p>
            <a:pPr>
              <a:defRPr sz="1400"/>
            </a:pPr>
            <a:r>
              <a:t>Augmentation pipeline implemented</a:t>
            </a:r>
          </a:p>
          <a:p>
            <a:pPr>
              <a:defRPr sz="1400"/>
            </a:pPr>
            <a:r>
              <a:t>Initial model trained and evaluated</a:t>
            </a:r>
          </a:p>
          <a:p>
            <a:pPr>
              <a:defRPr sz="1400"/>
            </a:pPr>
            <a:r>
              <a:t>[Visual: Timeline showing milestones completed]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/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Modules:</a:t>
            </a:r>
          </a:p>
          <a:p>
            <a:pPr>
              <a:defRPr sz="1400"/>
            </a:pPr>
            <a:r>
              <a:t>1. Data Preprocessing Module</a:t>
            </a:r>
          </a:p>
          <a:p>
            <a:pPr>
              <a:defRPr sz="1400"/>
            </a:pPr>
            <a:r>
              <a:t>2. NER-Based Data Augmentation Module</a:t>
            </a:r>
          </a:p>
          <a:p>
            <a:pPr>
              <a:defRPr sz="1400"/>
            </a:pPr>
            <a:r>
              <a:t>3. Text Classification Module</a:t>
            </a:r>
          </a:p>
          <a:p>
            <a:pPr>
              <a:defRPr sz="1400"/>
            </a:pPr>
            <a:r>
              <a:t>4. Evaluation &amp; Metrics Module</a:t>
            </a:r>
          </a:p>
          <a:p>
            <a:pPr>
              <a:defRPr sz="1400"/>
            </a:pPr>
            <a:r>
              <a:t>5. Visualization Dashboard (optional)</a:t>
            </a:r>
          </a:p>
          <a:p>
            <a:pPr>
              <a:defRPr sz="1400"/>
            </a:pPr>
            <a:r>
              <a:t>Technologies: Python, pandas, scikit-learn, FastText, transformers, torch, HuggingFace</a:t>
            </a:r>
          </a:p>
          <a:p>
            <a:pPr>
              <a:defRPr sz="1400"/>
            </a:pPr>
            <a:r>
              <a:t>[Visual: Architecture diagram of modules and data flow]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Data Preprocessing: Cleaning, tokenization, missing entry handling</a:t>
            </a:r>
          </a:p>
          <a:p>
            <a:pPr>
              <a:defRPr sz="1400"/>
            </a:pPr>
            <a:r>
              <a:t>NER-Based Augmentation: Entity replacement, synonym replacement, back-translation</a:t>
            </a:r>
          </a:p>
          <a:p>
            <a:pPr>
              <a:defRPr sz="1400"/>
            </a:pPr>
            <a:r>
              <a:t>Text Classification: Multi-class classification using mBERT / XLM-R</a:t>
            </a:r>
          </a:p>
          <a:p>
            <a:pPr>
              <a:defRPr sz="1400"/>
            </a:pPr>
            <a:r>
              <a:t>Evaluation: Accuracy, precision, recall, F1-score per class</a:t>
            </a:r>
          </a:p>
          <a:p>
            <a:pPr>
              <a:defRPr sz="1400"/>
            </a:pPr>
            <a:r>
              <a:t>Visualization Dashboard: Class distribution and performance metrics</a:t>
            </a:r>
          </a:p>
          <a:p>
            <a:pPr>
              <a:defRPr sz="1400"/>
            </a:pPr>
            <a:r>
              <a:t>[Insert screenshot of original dataset]</a:t>
            </a:r>
          </a:p>
          <a:p>
            <a:pPr>
              <a:defRPr sz="1400"/>
            </a:pPr>
            <a:r>
              <a:t>[Insert diagram of augmentation pipeline]</a:t>
            </a:r>
          </a:p>
          <a:p>
            <a:pPr>
              <a:defRPr sz="1400"/>
            </a:pPr>
            <a:r>
              <a:t>[Insert sample augmented text examples]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Challenges &amp; Solutions Table:</a:t>
            </a:r>
          </a:p>
          <a:p>
            <a:pPr>
              <a:defRPr sz="1400"/>
            </a:pPr>
            <a:r>
              <a:t>Challenge: Imbalanced dataset | Solution: Used NER-based augmentation to increase minority class samples</a:t>
            </a:r>
          </a:p>
          <a:p>
            <a:pPr>
              <a:defRPr sz="1400"/>
            </a:pPr>
            <a:r>
              <a:t>Challenge: Model overfitting | Solution: Implemented regularization and data augmentation</a:t>
            </a:r>
          </a:p>
          <a:p>
            <a:pPr>
              <a:defRPr sz="1400"/>
            </a:pPr>
            <a:r>
              <a:t>Challenge: Processing Sinhala text | Solution: Used custom preprocessing and tokenization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Testing Methods: Unit tests for preprocessing, evaluation on validation set</a:t>
            </a:r>
          </a:p>
          <a:p>
            <a:pPr>
              <a:defRPr sz="1400"/>
            </a:pPr>
            <a:r>
              <a:t>Initial Results: Improved minority class recall and overall accuracy</a:t>
            </a:r>
          </a:p>
          <a:p>
            <a:pPr>
              <a:defRPr sz="1400"/>
            </a:pPr>
            <a:r>
              <a:t>Areas for Improvement: Optimize model hyperparameters, extend augmentation techniques</a:t>
            </a:r>
          </a:p>
          <a:p>
            <a:pPr>
              <a:defRPr sz="1400"/>
            </a:pPr>
            <a:r>
              <a:t>[Visual: Charts showing accuracy per class or confusion matrix]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Fine-tune transformer models for better performance</a:t>
            </a:r>
          </a:p>
          <a:p>
            <a:pPr>
              <a:defRPr sz="1400"/>
            </a:pPr>
            <a:r>
              <a:t>Add more augmentation strategies</a:t>
            </a:r>
          </a:p>
          <a:p>
            <a:pPr>
              <a:defRPr sz="1400"/>
            </a:pPr>
            <a:r>
              <a:t>Finalize visualization dashboard</a:t>
            </a:r>
          </a:p>
          <a:p>
            <a:pPr>
              <a:defRPr sz="1400"/>
            </a:pPr>
            <a:r>
              <a:t>Complete final report and documentation</a:t>
            </a:r>
          </a:p>
          <a:p>
            <a:pPr>
              <a:defRPr sz="1400"/>
            </a:pPr>
            <a:r>
              <a:t>Prepare for project submission</a:t>
            </a:r>
          </a:p>
          <a:p>
            <a:pPr>
              <a:defRPr sz="1400"/>
            </a:pPr>
            <a:r>
              <a:t>[Visual: Checklist or Gantt chart for remaining tasks]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Learned how data augmentation improves model generalization</a:t>
            </a:r>
          </a:p>
          <a:p>
            <a:pPr>
              <a:defRPr sz="1400"/>
            </a:pPr>
            <a:r>
              <a:t>Hands-on experience with NLP pipelines for low-resource languages</a:t>
            </a:r>
          </a:p>
          <a:p>
            <a:pPr>
              <a:defRPr sz="1400"/>
            </a:pPr>
            <a:r>
              <a:t>Adapted project plan based on testing feedback and challenges</a:t>
            </a:r>
          </a:p>
          <a:p>
            <a:pPr>
              <a:defRPr sz="1400"/>
            </a:pPr>
            <a:r>
              <a:t>Recognized importance of preprocessing for model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Prototype successfully implemented</a:t>
            </a:r>
          </a:p>
          <a:p>
            <a:pPr>
              <a:defRPr sz="1400"/>
            </a:pPr>
            <a:r>
              <a:t>Key modules functional: Preprocessing, Augmentation, Classification, Evaluation</a:t>
            </a:r>
          </a:p>
          <a:p>
            <a:pPr>
              <a:defRPr sz="1400"/>
            </a:pPr>
            <a:r>
              <a:t>Challenges addressed, model performance improved</a:t>
            </a:r>
          </a:p>
          <a:p>
            <a:pPr>
              <a:defRPr sz="1400"/>
            </a:pPr>
            <a:r>
              <a:t>Next steps clearly defined for final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/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Invite questions from the audience</a:t>
            </a:r>
          </a:p>
          <a:p>
            <a:pPr>
              <a:defRPr sz="1400"/>
            </a:pPr>
            <a:r>
              <a:t>Thank You message</a:t>
            </a:r>
          </a:p>
          <a:p>
            <a:pPr>
              <a:defRPr sz="1400"/>
            </a:pPr>
            <a:r>
              <a:t>[Visual: Project logo or clean background]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39</TotalTime>
  <Words>570</Words>
  <Application>Microsoft Macintosh PowerPoint</Application>
  <PresentationFormat>On-screen Show (4:3)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Introduction &amp; Overview</vt:lpstr>
      <vt:lpstr>Problem / Motivation</vt:lpstr>
      <vt:lpstr>Project Objectives</vt:lpstr>
      <vt:lpstr>Scope &amp; Limitations</vt:lpstr>
      <vt:lpstr>Progress Since PPRS</vt:lpstr>
      <vt:lpstr>System Architecture / Prototype</vt:lpstr>
      <vt:lpstr>Features Developed</vt:lpstr>
      <vt:lpstr>Challenges &amp; Solutions</vt:lpstr>
      <vt:lpstr>Testing &amp; Evaluation</vt:lpstr>
      <vt:lpstr>Next Steps</vt:lpstr>
      <vt:lpstr>Critical Reflection</vt:lpstr>
      <vt:lpstr>Conclusion</vt:lpstr>
      <vt:lpstr>Q&amp;A /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Risan 20210402</cp:lastModifiedBy>
  <cp:revision>2</cp:revision>
  <dcterms:created xsi:type="dcterms:W3CDTF">2013-01-27T09:14:16Z</dcterms:created>
  <dcterms:modified xsi:type="dcterms:W3CDTF">2026-02-04T18:17:50Z</dcterms:modified>
  <cp:category/>
</cp:coreProperties>
</file>